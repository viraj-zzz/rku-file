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95360" y="-731520"/>
            <a:ext cx="4389120" cy="4389120"/>
          </a:xfrm>
          <a:prstGeom prst="ellipse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35440" y="4023360"/>
            <a:ext cx="3017520" cy="3017520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4980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5E5DC"/>
                </a:solidFill>
                <a:latin typeface="Aptos"/>
              </a:rPr>
              <a:t>TCIE-2  •  PERFORM &amp; DEMONSTRATE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7498079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MS WORD
MAIL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127248"/>
            <a:ext cx="71323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DCE6F1"/>
                </a:solidFill>
                <a:latin typeface="Aptos"/>
              </a:rPr>
              <a:t>Create one invitation. Personalize it for every student.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069080"/>
            <a:ext cx="6858000" cy="1600200"/>
          </a:xfrm>
          <a:prstGeom prst="roundRect">
            <a:avLst/>
          </a:prstGeom>
          <a:solidFill>
            <a:srgbClr val="1C3251"/>
          </a:solidFill>
          <a:ln>
            <a:solidFill>
              <a:srgbClr val="3F5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315968"/>
            <a:ext cx="630936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FFFFFF"/>
                </a:solidFill>
                <a:latin typeface="Aptos"/>
              </a:rPr>
              <a:t>Group Member :</a:t>
            </a:r>
            <a:r>
              <a:rPr lang="en-US" sz="1300" b="0" dirty="0">
                <a:solidFill>
                  <a:srgbClr val="FFFFFF"/>
                </a:solidFill>
                <a:latin typeface="Aptos"/>
              </a:rPr>
              <a:t>Viraj sakdecha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  </a:t>
            </a:r>
            <a:r>
              <a:rPr lang="en-US" sz="1300" b="0" dirty="0">
                <a:solidFill>
                  <a:srgbClr val="FFFFFF"/>
                </a:solidFill>
                <a:latin typeface="Aptos"/>
              </a:rPr>
              <a:t>                          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Roll No.: </a:t>
            </a:r>
            <a:r>
              <a:rPr lang="en-US" sz="1300" dirty="0">
                <a:solidFill>
                  <a:srgbClr val="FFFFFF"/>
                </a:solidFill>
                <a:latin typeface="Aptos"/>
              </a:rPr>
              <a:t>42</a:t>
            </a:r>
            <a:endParaRPr sz="13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5102352"/>
            <a:ext cx="630936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FFFFFF"/>
                </a:solidFill>
                <a:latin typeface="Aptos"/>
              </a:rPr>
              <a:t>Class: </a:t>
            </a:r>
            <a:r>
              <a:rPr lang="en-US" sz="1300" b="0" dirty="0">
                <a:solidFill>
                  <a:srgbClr val="FFFFFF"/>
                </a:solidFill>
                <a:latin typeface="Aptos"/>
              </a:rPr>
              <a:t>BCA 1</a:t>
            </a:r>
            <a:r>
              <a:rPr lang="en-US" sz="1300" b="0" baseline="30000" dirty="0">
                <a:solidFill>
                  <a:srgbClr val="FFFFFF"/>
                </a:solidFill>
                <a:latin typeface="Aptos"/>
              </a:rPr>
              <a:t>ST</a:t>
            </a:r>
            <a:r>
              <a:rPr lang="en-US" sz="1300" baseline="30000" dirty="0">
                <a:solidFill>
                  <a:srgbClr val="FFFFFF"/>
                </a:solidFill>
                <a:latin typeface="Aptos"/>
              </a:rPr>
              <a:t> 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 </a:t>
            </a:r>
            <a:r>
              <a:rPr lang="en-US" sz="1300" b="0" dirty="0">
                <a:solidFill>
                  <a:srgbClr val="FFFFFF"/>
                </a:solidFill>
                <a:latin typeface="Aptos"/>
              </a:rPr>
              <a:t>SEM                                                  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 Division</a:t>
            </a:r>
            <a:r>
              <a:rPr lang="en-IN" sz="1300" b="0" dirty="0">
                <a:solidFill>
                  <a:srgbClr val="FFFFFF"/>
                </a:solidFill>
                <a:latin typeface="Aptos"/>
              </a:rPr>
              <a:t>n: D</a:t>
            </a:r>
            <a:endParaRPr sz="13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2" y="6245352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1C3D8"/>
                </a:solidFill>
                <a:latin typeface="Aptos"/>
              </a:rPr>
              <a:t>COLLEGE SEMINAR INVITATION • PRACTICAL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1C3D8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F"/>
                </a:solidFill>
                <a:latin typeface="Aptos"/>
              </a:rPr>
              <a:t>01  |  Introduction to Mail Merge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905256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A quick way to create many personalized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585"/>
                </a:solidFill>
                <a:latin typeface="Aptos"/>
              </a:rPr>
              <a:t>02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49377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What is Mail Merge?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4937759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73241"/>
                </a:solidFill>
                <a:latin typeface="Aptos"/>
              </a:rPr>
              <a:t>A Microsoft Word feature that combines a standard document with a data source to create a separate personalized copy for each recipient.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73152" cy="1828800"/>
          </a:xfrm>
          <a:prstGeom prst="rect">
            <a:avLst/>
          </a:prstGeom>
          <a:solidFill>
            <a:srgbClr val="F29748"/>
          </a:solidFill>
          <a:ln>
            <a:solidFill>
              <a:srgbClr val="F2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581912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Why use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84248"/>
            <a:ext cx="489204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73241"/>
                </a:solidFill>
                <a:latin typeface="Aptos"/>
              </a:rPr>
              <a:t>It saves time, reduces repetitive typing, keeps formatting consistent, and makes bulk letters more personal.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77585"/>
                </a:solidFill>
                <a:latin typeface="Aptos"/>
              </a:rPr>
              <a:t>THE PROCESS AT A GLANCE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407408"/>
            <a:ext cx="438912" cy="438912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462272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343400"/>
            <a:ext cx="1783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33F"/>
                </a:solidFill>
                <a:latin typeface="Aptos"/>
              </a:rPr>
              <a:t>Main document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709160"/>
            <a:ext cx="1783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77585"/>
                </a:solidFill>
                <a:latin typeface="Aptos"/>
              </a:rPr>
              <a:t>Invitation template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1605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480560" y="4407408"/>
            <a:ext cx="438912" cy="438912"/>
          </a:xfrm>
          <a:prstGeom prst="ellipse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0" y="4462272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4343400"/>
            <a:ext cx="1783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33F"/>
                </a:solidFill>
                <a:latin typeface="Aptos"/>
              </a:rPr>
              <a:t>Recipient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4709160"/>
            <a:ext cx="1783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77585"/>
                </a:solidFill>
                <a:latin typeface="Aptos"/>
              </a:rPr>
              <a:t>Excel student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41605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955279" y="4407408"/>
            <a:ext cx="438912" cy="438912"/>
          </a:xfrm>
          <a:prstGeom prst="ellipse">
            <a:avLst/>
          </a:prstGeom>
          <a:solidFill>
            <a:srgbClr val="F29748"/>
          </a:solidFill>
          <a:ln>
            <a:solidFill>
              <a:srgbClr val="F2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79" y="4462272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4343400"/>
            <a:ext cx="1783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33F"/>
                </a:solidFill>
                <a:latin typeface="Aptos"/>
              </a:rPr>
              <a:t>Merged letters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709160"/>
            <a:ext cx="1783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77585"/>
                </a:solidFill>
                <a:latin typeface="Aptos"/>
              </a:rPr>
              <a:t>One per student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806440"/>
            <a:ext cx="79552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9B9B"/>
                </a:solidFill>
                <a:latin typeface="Aptos"/>
              </a:rPr>
              <a:t>Main document  →  Data source  →  Personalized output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F"/>
                </a:solidFill>
                <a:latin typeface="Aptos"/>
              </a:rPr>
              <a:t>02  |  Objective of the Practical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905256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What this activity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585"/>
                </a:solidFill>
                <a:latin typeface="Aptos"/>
              </a:rPr>
              <a:t>03  /  10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444752"/>
            <a:ext cx="475488" cy="475488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71600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F"/>
                </a:solidFill>
                <a:latin typeface="Aptos"/>
              </a:rPr>
              <a:t>Prepare a standard invitation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6766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73241"/>
                </a:solidFill>
                <a:latin typeface="Aptos"/>
              </a:rPr>
              <a:t>Draft a professional college seminar invitation in Word.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1901952"/>
            <a:ext cx="22860" cy="384048"/>
          </a:xfrm>
          <a:prstGeom prst="rect">
            <a:avLst/>
          </a:prstGeom>
          <a:solidFill>
            <a:srgbClr val="D3DDE8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" y="2377440"/>
            <a:ext cx="475488" cy="475488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04288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F"/>
                </a:solidFill>
                <a:latin typeface="Aptos"/>
              </a:rPr>
              <a:t>Build a recipient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04288"/>
            <a:ext cx="6766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73241"/>
                </a:solidFill>
                <a:latin typeface="Aptos"/>
              </a:rPr>
              <a:t>Store at least 10 students’ names, enrollment numbers and email addresses in Excel.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2834640"/>
            <a:ext cx="22860" cy="384048"/>
          </a:xfrm>
          <a:prstGeom prst="rect">
            <a:avLst/>
          </a:prstGeom>
          <a:solidFill>
            <a:srgbClr val="D3DDE8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" y="3310128"/>
            <a:ext cx="475488" cy="475488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401568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236976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F"/>
                </a:solidFill>
                <a:latin typeface="Aptos"/>
              </a:rPr>
              <a:t>Connect the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36976"/>
            <a:ext cx="6766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73241"/>
                </a:solidFill>
                <a:latin typeface="Aptos"/>
              </a:rPr>
              <a:t>Link the Word document to the Excel recipient list.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3767328"/>
            <a:ext cx="22860" cy="384048"/>
          </a:xfrm>
          <a:prstGeom prst="rect">
            <a:avLst/>
          </a:prstGeom>
          <a:solidFill>
            <a:srgbClr val="D3DDE8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2960" y="4242816"/>
            <a:ext cx="475488" cy="475488"/>
          </a:xfrm>
          <a:prstGeom prst="ellipse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334256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169664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F"/>
                </a:solidFill>
                <a:latin typeface="Aptos"/>
              </a:rPr>
              <a:t>Insert merge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169664"/>
            <a:ext cx="6766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73241"/>
                </a:solidFill>
                <a:latin typeface="Aptos"/>
              </a:rPr>
              <a:t>Place fields where each student’s personal details should appear.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4700016"/>
            <a:ext cx="22860" cy="384048"/>
          </a:xfrm>
          <a:prstGeom prst="rect">
            <a:avLst/>
          </a:prstGeom>
          <a:solidFill>
            <a:srgbClr val="D3DDE8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2960" y="5175504"/>
            <a:ext cx="475488" cy="475488"/>
          </a:xfrm>
          <a:prstGeom prst="ellipse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266944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10235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F"/>
                </a:solidFill>
                <a:latin typeface="Aptos"/>
              </a:rPr>
              <a:t>Preview and generate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102352"/>
            <a:ext cx="6766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73241"/>
                </a:solidFill>
                <a:latin typeface="Aptos"/>
              </a:rPr>
              <a:t>Check the letters and finish the merge for all recipients.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F"/>
                </a:solidFill>
                <a:latin typeface="Aptos"/>
              </a:rPr>
              <a:t>03  |  Tools &amp; Features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905256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Microsoft Word works with an Excel data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585"/>
                </a:solidFill>
                <a:latin typeface="Aptos"/>
              </a:rPr>
              <a:t>04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Microsoft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315468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73241"/>
                </a:solidFill>
                <a:latin typeface="Aptos"/>
              </a:rPr>
              <a:t>• Invitation template
• Mailings tab
• Insert Merge Field
• Preview Results
• Finish &amp; Merge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58191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Microsoft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84248"/>
            <a:ext cx="315468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73241"/>
                </a:solidFill>
                <a:latin typeface="Aptos"/>
              </a:rPr>
              <a:t>• Column headings
• One row per student
• Consistent data format
• Unique enrollment numbers
• Save as .xlsx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417320"/>
            <a:ext cx="73152" cy="1828800"/>
          </a:xfrm>
          <a:prstGeom prst="rect">
            <a:avLst/>
          </a:prstGeom>
          <a:solidFill>
            <a:srgbClr val="F29748"/>
          </a:solidFill>
          <a:ln>
            <a:solidFill>
              <a:srgbClr val="F2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58191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Mail Merge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984248"/>
            <a:ext cx="315468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73241"/>
                </a:solidFill>
                <a:latin typeface="Aptos"/>
              </a:rPr>
              <a:t>• Select Recipients
• Edit Recipient List
• Address/field mapping
• Preview each record
• Print or edit merged letters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8620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Before starting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43400"/>
            <a:ext cx="10241280" cy="1508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73241"/>
                </a:solidFill>
                <a:latin typeface="Aptos"/>
              </a:defRPr>
            </a:pPr>
            <a:r>
              <a:t>•  Keep the Excel file closed while connecting if Word has trouble reading it.</a:t>
            </a:r>
          </a:p>
          <a:p>
            <a:pPr>
              <a:spcAft>
                <a:spcPts val="900"/>
              </a:spcAft>
              <a:defRPr sz="1500">
                <a:solidFill>
                  <a:srgbClr val="273241"/>
                </a:solidFill>
                <a:latin typeface="Aptos"/>
              </a:defRPr>
            </a:pPr>
            <a:r>
              <a:t>•  Use clear headers such as Name, EnrollmentNo and Email.</a:t>
            </a:r>
          </a:p>
          <a:p>
            <a:pPr>
              <a:spcAft>
                <a:spcPts val="900"/>
              </a:spcAft>
              <a:defRPr sz="1500">
                <a:solidFill>
                  <a:srgbClr val="273241"/>
                </a:solidFill>
                <a:latin typeface="Aptos"/>
              </a:defRPr>
            </a:pPr>
            <a:r>
              <a:t>•  Save both files in a known folder so they are easy to find.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F"/>
                </a:solidFill>
                <a:latin typeface="Aptos"/>
              </a:rPr>
              <a:t>04  |  Step 1 — Prepare the Excel Recipient 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905256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Create a clean data source with at least 10 student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585"/>
                </a:solidFill>
                <a:latin typeface="Aptos"/>
              </a:rPr>
              <a:t>05  /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68122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Name</a:t>
                      </a:r>
                    </a:p>
                  </a:txBody>
                  <a:tcPr marR="73152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EnrollmentNo</a:t>
                      </a:r>
                    </a:p>
                  </a:txBody>
                  <a:tcPr marR="73152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Email</a:t>
                      </a:r>
                    </a:p>
                  </a:txBody>
                  <a:tcPr marR="73152"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Aarav Patel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TCIE2401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aarav.patel@example.com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Diya Shah</a:t>
                      </a:r>
                    </a:p>
                  </a:txBody>
                  <a:tcPr marR="7315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TCIE2402</a:t>
                      </a:r>
                    </a:p>
                  </a:txBody>
                  <a:tcPr marR="7315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diya.shah@example.com</a:t>
                      </a:r>
                    </a:p>
                  </a:txBody>
                  <a:tcPr marR="73152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Rohan Mehta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TCIE2403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rohan.mehta@example.com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Anaya Joshi</a:t>
                      </a:r>
                    </a:p>
                  </a:txBody>
                  <a:tcPr marR="7315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TCIE2404</a:t>
                      </a:r>
                    </a:p>
                  </a:txBody>
                  <a:tcPr marR="7315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anaya.joshi@example.com</a:t>
                      </a:r>
                    </a:p>
                  </a:txBody>
                  <a:tcPr marR="73152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Kabir Desai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TCIE2405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kabir.desai@example.com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09560" y="1508760"/>
            <a:ext cx="3520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09560" y="1508760"/>
            <a:ext cx="73152" cy="1371600"/>
          </a:xfrm>
          <a:prstGeom prst="rect">
            <a:avLst/>
          </a:prstGeom>
          <a:solidFill>
            <a:srgbClr val="F29748"/>
          </a:solidFill>
          <a:ln>
            <a:solidFill>
              <a:srgbClr val="F2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8" y="1673351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Important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8" y="2075688"/>
            <a:ext cx="31546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The sample names and example.com emails are illustrative. Replace them with your approved practical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063240"/>
            <a:ext cx="3520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3063240"/>
            <a:ext cx="73152" cy="1371600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322783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Save the workbook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3630168"/>
            <a:ext cx="31546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Save as Student_List.xlsx. Keep the first row for column headings.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5382"/>
                </a:solidFill>
                <a:latin typeface="Aptos"/>
              </a:rPr>
              <a:t>Add 5 more records to reach 10 students. Each student must occupy one row.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F"/>
                </a:solidFill>
                <a:latin typeface="Aptos"/>
              </a:rPr>
              <a:t>05  |  Step 2 — Draft the Invitation in Word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905256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Create the reusable main document before inserting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585"/>
                </a:solidFill>
                <a:latin typeface="Aptos"/>
              </a:rPr>
              <a:t>06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675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27632"/>
            <a:ext cx="5943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2233F"/>
                </a:solidFill>
                <a:latin typeface="Aptos"/>
              </a:rPr>
              <a:t>COLLEGE SEMINAR INVITATION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194560"/>
            <a:ext cx="5394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77585"/>
                </a:solidFill>
                <a:latin typeface="Aptos"/>
              </a:rPr>
              <a:t>Date: [Insert date]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51760"/>
            <a:ext cx="5394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73241"/>
                </a:solidFill>
                <a:latin typeface="Aptos"/>
              </a:rPr>
              <a:t>Dear «Name»,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90672"/>
            <a:ext cx="5486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73241"/>
                </a:solidFill>
                <a:latin typeface="Aptos"/>
              </a:rPr>
              <a:t>You are cordially invited to attend our college seminar. The session will provide an opportunity to learn, exchange ideas and interact with fellow students.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160520"/>
            <a:ext cx="5394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5382"/>
                </a:solidFill>
                <a:latin typeface="Aptos"/>
              </a:rPr>
              <a:t>Enrollment No.: «EnrollmentNo»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53712"/>
            <a:ext cx="5486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5382"/>
                </a:solidFill>
                <a:latin typeface="Aptos"/>
              </a:rPr>
              <a:t>Please confirm your participation by email: «Email»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074920"/>
            <a:ext cx="5303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Regards,
Seminar Organizing Committee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46304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8120" y="1463040"/>
            <a:ext cx="73152" cy="1325880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9288" y="162763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Suggested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2029968"/>
            <a:ext cx="3108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Seminar title, date, time, venue and organizer.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9718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18120" y="2971800"/>
            <a:ext cx="73152" cy="1325880"/>
          </a:xfrm>
          <a:prstGeom prst="rect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19288" y="313639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Use placeholders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3538728"/>
            <a:ext cx="3108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Type the basic letter, then replace personal details with Word merge fields.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709160"/>
            <a:ext cx="315468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9748"/>
                </a:solidFill>
                <a:latin typeface="Aptos"/>
              </a:rPr>
              <a:t>Note: «Name», «EnrollmentNo» and «Email» become real merge fields in Word.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F"/>
                </a:solidFill>
                <a:latin typeface="Aptos"/>
              </a:rPr>
              <a:t>06  |  Step 3 — Connect &amp; Insert Merge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905256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Use the Mailings tab in Microsoft 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585"/>
                </a:solidFill>
                <a:latin typeface="Aptos"/>
              </a:rPr>
              <a:t>07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78408" y="1645920"/>
            <a:ext cx="530352" cy="530352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773936"/>
            <a:ext cx="5303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18488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Open Mailings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39112"/>
            <a:ext cx="38862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Choose Start Mail Merge → Letters.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01968" y="1645920"/>
            <a:ext cx="530352" cy="530352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773936"/>
            <a:ext cx="5303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618488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Select Recipients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039112"/>
            <a:ext cx="38862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Use an Existing List and choose Student_List.xlsx.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8328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8408" y="3611880"/>
            <a:ext cx="530352" cy="530352"/>
          </a:xfrm>
          <a:prstGeom prst="ellipse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3739896"/>
            <a:ext cx="5303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584448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Choose worksheet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005072"/>
            <a:ext cx="38862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Select the sheet containing the student table; confirm headers.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38328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01968" y="3611880"/>
            <a:ext cx="530352" cy="530352"/>
          </a:xfrm>
          <a:prstGeom prst="ellipse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1968" y="3739896"/>
            <a:ext cx="5303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584448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Insert fields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005072"/>
            <a:ext cx="38862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Place cursor in the letter, then Insert Merge Field → Name / EnrollmentNo / Email.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103327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9748"/>
                </a:solidFill>
                <a:latin typeface="Aptos"/>
              </a:rPr>
              <a:t>Tip: Do not manually type the chevrons. Insert fields using Word’s Insert Merge Field command.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F"/>
                </a:solidFill>
                <a:latin typeface="Aptos"/>
              </a:rPr>
              <a:t>07  |  Practical Demonstration Screenshots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905256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>
                <a:solidFill>
                  <a:srgbClr val="5B6C81"/>
                </a:solidFill>
                <a:latin typeface="Aptos"/>
              </a:rPr>
              <a:t>Actual Microsoft Word steps: select recipients, insert fields and generate letters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585"/>
                </a:solidFill>
                <a:latin typeface="Aptos"/>
              </a:rPr>
              <a:t>08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356616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1208" y="1371600"/>
            <a:ext cx="3529584" cy="9144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536192"/>
            <a:ext cx="3273552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142744"/>
                </a:solidFill>
                <a:latin typeface="Aptos Display"/>
              </a:defRPr>
            </a:pPr>
            <a:r>
              <a:t>01  SELECT RECIPIENTS</a:t>
            </a:r>
          </a:p>
        </p:txBody>
      </p:sp>
      <p:pic>
        <p:nvPicPr>
          <p:cNvPr id="9" name="Picture 8" descr="Screenshot 2026-10-26 1551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166" y="1901952"/>
            <a:ext cx="1643667" cy="14356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464166" y="1901952"/>
            <a:ext cx="1643667" cy="1435608"/>
          </a:xfrm>
          <a:prstGeom prst="rect">
            <a:avLst/>
          </a:prstGeom>
          <a:noFill/>
          <a:ln w="1016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15968" y="1353312"/>
            <a:ext cx="356616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4255" y="1371600"/>
            <a:ext cx="3529584" cy="9144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1536192"/>
            <a:ext cx="3273552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142744"/>
                </a:solidFill>
                <a:latin typeface="Aptos Display"/>
              </a:defRPr>
            </a:pPr>
            <a:r>
              <a:t>02  INSERT MERGE FIELD</a:t>
            </a:r>
          </a:p>
        </p:txBody>
      </p:sp>
      <p:pic>
        <p:nvPicPr>
          <p:cNvPr id="14" name="Picture 13" descr="Screenshot 2026-10-26 1554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446" y="1901952"/>
            <a:ext cx="995202" cy="14356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601446" y="1901952"/>
            <a:ext cx="995202" cy="1435608"/>
          </a:xfrm>
          <a:prstGeom prst="rect">
            <a:avLst/>
          </a:prstGeom>
          <a:noFill/>
          <a:ln w="1016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9016" y="1353312"/>
            <a:ext cx="356616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47304" y="1371600"/>
            <a:ext cx="3529584" cy="9144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1536192"/>
            <a:ext cx="3273552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142744"/>
                </a:solidFill>
                <a:latin typeface="Aptos Display"/>
              </a:defRPr>
            </a:pPr>
            <a:r>
              <a:t>03  CHOOSE A FIELD</a:t>
            </a:r>
          </a:p>
        </p:txBody>
      </p:sp>
      <p:pic>
        <p:nvPicPr>
          <p:cNvPr id="19" name="Picture 18" descr="Screenshot 2026-10-26 1555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754" y="1901952"/>
            <a:ext cx="998683" cy="143560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9412754" y="1901952"/>
            <a:ext cx="998683" cy="1435608"/>
          </a:xfrm>
          <a:prstGeom prst="rect">
            <a:avLst/>
          </a:prstGeom>
          <a:noFill/>
          <a:ln w="1016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395728" y="3730752"/>
            <a:ext cx="356616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14016" y="3749039"/>
            <a:ext cx="3529584" cy="9144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42032" y="3913632"/>
            <a:ext cx="3273552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142744"/>
                </a:solidFill>
                <a:latin typeface="Aptos Display"/>
              </a:defRPr>
            </a:pPr>
            <a:r>
              <a:t>04  FINISH &amp; MERGE</a:t>
            </a:r>
          </a:p>
        </p:txBody>
      </p:sp>
      <p:pic>
        <p:nvPicPr>
          <p:cNvPr id="24" name="Picture 23" descr="Screenshot 2026-10-26 1555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1135" y="4279392"/>
            <a:ext cx="1935344" cy="143560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211135" y="4279392"/>
            <a:ext cx="1935344" cy="1435608"/>
          </a:xfrm>
          <a:prstGeom prst="rect">
            <a:avLst/>
          </a:prstGeom>
          <a:noFill/>
          <a:ln w="1016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08776" y="3730752"/>
            <a:ext cx="356616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27064" y="3749039"/>
            <a:ext cx="3529584" cy="9144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3913632"/>
            <a:ext cx="3273552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142744"/>
                </a:solidFill>
                <a:latin typeface="Aptos Display"/>
              </a:defRPr>
            </a:pPr>
            <a:r>
              <a:t>05  EDIT INDIVIDUAL DOCUMENTS</a:t>
            </a:r>
          </a:p>
        </p:txBody>
      </p:sp>
      <p:pic>
        <p:nvPicPr>
          <p:cNvPr id="29" name="Picture 28" descr="Screenshot 2026-10-26 1555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6553" y="4279392"/>
            <a:ext cx="2090604" cy="143560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946553" y="4279392"/>
            <a:ext cx="2090604" cy="1435608"/>
          </a:xfrm>
          <a:prstGeom prst="rect">
            <a:avLst/>
          </a:prstGeom>
          <a:noFill/>
          <a:ln w="1016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6144768"/>
            <a:ext cx="107899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5B6C81"/>
                </a:solidFill>
                <a:latin typeface="Aptos"/>
              </a:defRPr>
            </a:pPr>
            <a:r>
              <a:t>Workflow: Mailings → Select Recipients → Insert Merge Field → Finish &amp; Merge → Edit Individual Documents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F"/>
                </a:solidFill>
                <a:latin typeface="Aptos"/>
              </a:rPr>
              <a:t>08  |  Step 4 — Preview &amp; Generate Letters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905256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Check every record before finishing the merge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585"/>
                </a:solidFill>
                <a:latin typeface="Aptos"/>
              </a:rPr>
              <a:t>09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1417320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Preview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38528"/>
            <a:ext cx="3063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Use Next Record / Previous Record to inspect different students.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73152" cy="1417320"/>
          </a:xfrm>
          <a:prstGeom prst="rect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36192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Check the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38528"/>
            <a:ext cx="3063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Confirm names, enrollment numbers, email addresses and spacing.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73152" cy="1417320"/>
          </a:xfrm>
          <a:prstGeom prst="rect">
            <a:avLst/>
          </a:prstGeom>
          <a:solidFill>
            <a:srgbClr val="F29748"/>
          </a:solidFill>
          <a:ln>
            <a:solidFill>
              <a:srgbClr val="F2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536192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Finish &amp; 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38528"/>
            <a:ext cx="3063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Choose Edit Individual Documents to create all letters in a new document.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246120"/>
            <a:ext cx="10287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352044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9B9B"/>
                </a:solidFill>
                <a:latin typeface="Aptos"/>
              </a:rPr>
              <a:t>EXPECTED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77639"/>
            <a:ext cx="9509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12233F"/>
                </a:solidFill>
                <a:latin typeface="Aptos"/>
              </a:rPr>
              <a:t>10 student records  →  10 personalized invitation letters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754880"/>
            <a:ext cx="9326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677585"/>
                </a:solidFill>
                <a:latin typeface="Aptos"/>
              </a:rPr>
              <a:t>Save the merged output as a separate Word document. Recheck page breaks and save your files.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35382"/>
                </a:solidFill>
                <a:latin typeface="Aptos"/>
              </a:rPr>
              <a:t>Expected files: Student_List.xlsx  •  Seminar_Invitation.docx  •  Merged_Invitations.docx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6400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09  | 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143000"/>
            <a:ext cx="777240" cy="54864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24128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Mail Merge combines a reusable Word letter with structured Excel data to create personalized documents efficiently.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063240"/>
            <a:ext cx="3429000" cy="1417320"/>
          </a:xfrm>
          <a:prstGeom prst="roundRect">
            <a:avLst/>
          </a:prstGeom>
          <a:solidFill>
            <a:srgbClr val="1C3251"/>
          </a:solidFill>
          <a:ln>
            <a:solidFill>
              <a:srgbClr val="3F5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310128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95E5DC"/>
                </a:solidFill>
                <a:latin typeface="Aptos"/>
              </a:rPr>
              <a:t>Time-saving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30752"/>
            <a:ext cx="2880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Avoid typing the same letter repeatedly.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063240"/>
            <a:ext cx="3429000" cy="1417320"/>
          </a:xfrm>
          <a:prstGeom prst="roundRect">
            <a:avLst/>
          </a:prstGeom>
          <a:solidFill>
            <a:srgbClr val="1C3251"/>
          </a:solidFill>
          <a:ln>
            <a:solidFill>
              <a:srgbClr val="3F5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3310128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95E5DC"/>
                </a:solidFill>
                <a:latin typeface="Aptos"/>
              </a:rPr>
              <a:t>Consistent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730752"/>
            <a:ext cx="2880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Keep layout and wording uniform.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063240"/>
            <a:ext cx="3429000" cy="1417320"/>
          </a:xfrm>
          <a:prstGeom prst="roundRect">
            <a:avLst/>
          </a:prstGeom>
          <a:solidFill>
            <a:srgbClr val="1C3251"/>
          </a:solidFill>
          <a:ln>
            <a:solidFill>
              <a:srgbClr val="3F5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3310128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95E5DC"/>
                </a:solidFill>
                <a:latin typeface="Aptos"/>
              </a:rPr>
              <a:t>Personalized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730752"/>
            <a:ext cx="2880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Each student receives their own details.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B1C3D8"/>
                </a:solidFill>
                <a:latin typeface="Aptos"/>
              </a:rPr>
              <a:t>Questions &amp; Viva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1C3D8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956</Words>
  <Application>Microsoft Office PowerPoint</Application>
  <PresentationFormat>Widescreen</PresentationFormat>
  <Paragraphs>146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 Word – Mail Merge | TCIE-2 Practical Presentation</dc:title>
  <dc:subject>10-slide academic presentation on Mail Merge</dc:subject>
  <dc:creator>Student</dc:creator>
  <cp:keywords>MS Word, Mail Merge, Excel, college seminar</cp:keywords>
  <dc:description>generated using python-pptx</dc:description>
  <cp:lastModifiedBy>l10pc8</cp:lastModifiedBy>
  <cp:revision>2</cp:revision>
  <dcterms:created xsi:type="dcterms:W3CDTF">2013-01-27T09:14:16Z</dcterms:created>
  <dcterms:modified xsi:type="dcterms:W3CDTF">2026-10-26T10:32:17Z</dcterms:modified>
  <cp:category/>
</cp:coreProperties>
</file>