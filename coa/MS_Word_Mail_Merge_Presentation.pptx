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731520"/>
            <a:ext cx="4389120" cy="4389120"/>
          </a:xfrm>
          <a:prstGeom prst="ellipse">
            <a:avLst/>
          </a:prstGeom>
          <a:solidFill>
            <a:srgbClr val="235382"/>
          </a:solidFill>
          <a:ln>
            <a:solidFill>
              <a:srgbClr val="235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4023360"/>
            <a:ext cx="3017520" cy="3017520"/>
          </a:xfrm>
          <a:prstGeom prst="ellipse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74980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5E5DC"/>
                </a:solidFill>
                <a:latin typeface="Aptos"/>
              </a:rPr>
              <a:t>TCIE-2  •  PERFORM &amp; DEMONSTRATE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25880"/>
            <a:ext cx="7498079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MS WORD
MAIL MERGE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3127248"/>
            <a:ext cx="71323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DCE6F1"/>
                </a:solidFill>
                <a:latin typeface="Aptos"/>
              </a:rPr>
              <a:t>Create one invitation. Personalize it for every student.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069080"/>
            <a:ext cx="6858000" cy="1600200"/>
          </a:xfrm>
          <a:prstGeom prst="roundRect">
            <a:avLst/>
          </a:prstGeom>
          <a:solidFill>
            <a:srgbClr val="1C3251"/>
          </a:solidFill>
          <a:ln>
            <a:solidFill>
              <a:srgbClr val="3F5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15968"/>
            <a:ext cx="6309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Group Member 1: ____________________   Roll No.: 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709160"/>
            <a:ext cx="6309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Group Member 2: ____________________   Roll No.: 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102352"/>
            <a:ext cx="6309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Class: __________________    Division: __________________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6245352"/>
            <a:ext cx="7772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1C3D8"/>
                </a:solidFill>
                <a:latin typeface="Aptos"/>
              </a:rPr>
              <a:t>COLLEGE SEMINAR INVITATION • PRACTICAL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B1C3D8"/>
                </a:solidFill>
                <a:latin typeface="Aptos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33F"/>
                </a:solidFill>
                <a:latin typeface="Aptos"/>
              </a:rPr>
              <a:t>01  |  Introduction to Mail Merge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13232" cy="50292"/>
          </a:xfrm>
          <a:prstGeom prst="rect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905256"/>
            <a:ext cx="9966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77585"/>
                </a:solidFill>
                <a:latin typeface="Aptos"/>
              </a:rPr>
              <a:t>A quick way to create many personalized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77585"/>
                </a:solidFill>
                <a:latin typeface="Aptos"/>
              </a:rPr>
              <a:t>02  /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828800"/>
          </a:xfrm>
          <a:prstGeom prst="rect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81912"/>
            <a:ext cx="493775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What is Mail Merge?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84248"/>
            <a:ext cx="4937759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73241"/>
                </a:solidFill>
                <a:latin typeface="Aptos"/>
              </a:rPr>
              <a:t>A Microsoft Word feature that combines a standard document with a data source to create a separate personalized copy for each recipient.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73152" cy="1828800"/>
          </a:xfrm>
          <a:prstGeom prst="rect">
            <a:avLst/>
          </a:prstGeom>
          <a:solidFill>
            <a:srgbClr val="F29748"/>
          </a:solidFill>
          <a:ln>
            <a:solidFill>
              <a:srgbClr val="F29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581912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Why use 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84248"/>
            <a:ext cx="489204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73241"/>
                </a:solidFill>
                <a:latin typeface="Aptos"/>
              </a:rPr>
              <a:t>It saves time, reduces repetitive typing, keeps formatting consistent, and makes bulk letters more personal.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0332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77585"/>
                </a:solidFill>
                <a:latin typeface="Aptos"/>
              </a:rPr>
              <a:t>THE PROCESS AT A GLANCE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60520"/>
            <a:ext cx="2743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4407408"/>
            <a:ext cx="438912" cy="438912"/>
          </a:xfrm>
          <a:prstGeom prst="ellipse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462272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343400"/>
            <a:ext cx="1783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233F"/>
                </a:solidFill>
                <a:latin typeface="Aptos"/>
              </a:rPr>
              <a:t>Main document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709160"/>
            <a:ext cx="17830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77585"/>
                </a:solidFill>
                <a:latin typeface="Aptos"/>
              </a:rPr>
              <a:t>Invitation template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4160520"/>
            <a:ext cx="2743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80560" y="4407408"/>
            <a:ext cx="438912" cy="438912"/>
          </a:xfrm>
          <a:prstGeom prst="ellipse">
            <a:avLst/>
          </a:prstGeom>
          <a:solidFill>
            <a:srgbClr val="235382"/>
          </a:solidFill>
          <a:ln>
            <a:solidFill>
              <a:srgbClr val="235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4462272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4343400"/>
            <a:ext cx="1783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233F"/>
                </a:solidFill>
                <a:latin typeface="Aptos"/>
              </a:rPr>
              <a:t>Recipient 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7488" y="4709160"/>
            <a:ext cx="17830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77585"/>
                </a:solidFill>
                <a:latin typeface="Aptos"/>
              </a:rPr>
              <a:t>Excel student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4160520"/>
            <a:ext cx="2743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55279" y="4407408"/>
            <a:ext cx="438912" cy="438912"/>
          </a:xfrm>
          <a:prstGeom prst="ellipse">
            <a:avLst/>
          </a:prstGeom>
          <a:solidFill>
            <a:srgbClr val="F29748"/>
          </a:solidFill>
          <a:ln>
            <a:solidFill>
              <a:srgbClr val="F29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79" y="4462272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8" y="4343400"/>
            <a:ext cx="1783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233F"/>
                </a:solidFill>
                <a:latin typeface="Aptos"/>
              </a:rPr>
              <a:t>Merged letters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4709160"/>
            <a:ext cx="17830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77585"/>
                </a:solidFill>
                <a:latin typeface="Aptos"/>
              </a:rPr>
              <a:t>One per student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5806440"/>
            <a:ext cx="79552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9B9B"/>
                </a:solidFill>
                <a:latin typeface="Aptos"/>
              </a:rPr>
              <a:t>Main document  →  Data source  →  Personalized output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33F"/>
                </a:solidFill>
                <a:latin typeface="Aptos"/>
              </a:rPr>
              <a:t>02  |  Objective of the Practical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13232" cy="50292"/>
          </a:xfrm>
          <a:prstGeom prst="rect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905256"/>
            <a:ext cx="9966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77585"/>
                </a:solidFill>
                <a:latin typeface="Aptos"/>
              </a:rPr>
              <a:t>What this activity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77585"/>
                </a:solidFill>
                <a:latin typeface="Aptos"/>
              </a:rPr>
              <a:t>03  /  10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444752"/>
            <a:ext cx="475488" cy="475488"/>
          </a:xfrm>
          <a:prstGeom prst="ellipse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47548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371600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F"/>
                </a:solidFill>
                <a:latin typeface="Aptos"/>
              </a:rPr>
              <a:t>Prepare a standard invitation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371600"/>
            <a:ext cx="6766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73241"/>
                </a:solidFill>
                <a:latin typeface="Aptos"/>
              </a:rPr>
              <a:t>Draft a professional college seminar invitation in Word.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1901952"/>
            <a:ext cx="22860" cy="384048"/>
          </a:xfrm>
          <a:prstGeom prst="rect">
            <a:avLst/>
          </a:prstGeom>
          <a:solidFill>
            <a:srgbClr val="D3DDE8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2377440"/>
            <a:ext cx="475488" cy="475488"/>
          </a:xfrm>
          <a:prstGeom prst="ellipse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68880"/>
            <a:ext cx="47548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304288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F"/>
                </a:solidFill>
                <a:latin typeface="Aptos"/>
              </a:rPr>
              <a:t>Build a recipient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04288"/>
            <a:ext cx="6766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73241"/>
                </a:solidFill>
                <a:latin typeface="Aptos"/>
              </a:rPr>
              <a:t>Store at least 10 students’ names, enrollment numbers and email addresses in Excel.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2834640"/>
            <a:ext cx="22860" cy="384048"/>
          </a:xfrm>
          <a:prstGeom prst="rect">
            <a:avLst/>
          </a:prstGeom>
          <a:solidFill>
            <a:srgbClr val="D3DDE8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3310128"/>
            <a:ext cx="475488" cy="475488"/>
          </a:xfrm>
          <a:prstGeom prst="ellipse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401568"/>
            <a:ext cx="47548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236976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F"/>
                </a:solidFill>
                <a:latin typeface="Aptos"/>
              </a:rPr>
              <a:t>Connect the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236976"/>
            <a:ext cx="6766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73241"/>
                </a:solidFill>
                <a:latin typeface="Aptos"/>
              </a:rPr>
              <a:t>Link the Word document to the Excel recipient list.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3767328"/>
            <a:ext cx="22860" cy="384048"/>
          </a:xfrm>
          <a:prstGeom prst="rect">
            <a:avLst/>
          </a:prstGeom>
          <a:solidFill>
            <a:srgbClr val="D3DDE8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242816"/>
            <a:ext cx="475488" cy="475488"/>
          </a:xfrm>
          <a:prstGeom prst="ellipse">
            <a:avLst/>
          </a:prstGeom>
          <a:solidFill>
            <a:srgbClr val="235382"/>
          </a:solidFill>
          <a:ln>
            <a:solidFill>
              <a:srgbClr val="235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334256"/>
            <a:ext cx="47548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169664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F"/>
                </a:solidFill>
                <a:latin typeface="Aptos"/>
              </a:rPr>
              <a:t>Insert merge fields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169664"/>
            <a:ext cx="6766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73241"/>
                </a:solidFill>
                <a:latin typeface="Aptos"/>
              </a:rPr>
              <a:t>Place fields where each student’s personal details should appear.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60" y="4700016"/>
            <a:ext cx="22860" cy="384048"/>
          </a:xfrm>
          <a:prstGeom prst="rect">
            <a:avLst/>
          </a:prstGeom>
          <a:solidFill>
            <a:srgbClr val="D3DDE8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2960" y="5175504"/>
            <a:ext cx="475488" cy="475488"/>
          </a:xfrm>
          <a:prstGeom prst="ellipse">
            <a:avLst/>
          </a:prstGeom>
          <a:solidFill>
            <a:srgbClr val="235382"/>
          </a:solidFill>
          <a:ln>
            <a:solidFill>
              <a:srgbClr val="235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266944"/>
            <a:ext cx="47548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102352"/>
            <a:ext cx="30175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233F"/>
                </a:solidFill>
                <a:latin typeface="Aptos"/>
              </a:rPr>
              <a:t>Preview and generate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102352"/>
            <a:ext cx="6766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73241"/>
                </a:solidFill>
                <a:latin typeface="Aptos"/>
              </a:rPr>
              <a:t>Check the letters and finish the merge for all recipients.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33F"/>
                </a:solidFill>
                <a:latin typeface="Aptos"/>
              </a:rPr>
              <a:t>03  |  Tools &amp; Features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13232" cy="50292"/>
          </a:xfrm>
          <a:prstGeom prst="rect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905256"/>
            <a:ext cx="9966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77585"/>
                </a:solidFill>
                <a:latin typeface="Aptos"/>
              </a:rPr>
              <a:t>Microsoft Word works with an Excel data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77585"/>
                </a:solidFill>
                <a:latin typeface="Aptos"/>
              </a:rPr>
              <a:t>04  /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828800"/>
          </a:xfrm>
          <a:prstGeom prst="rect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81912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Microsoft 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84248"/>
            <a:ext cx="315468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73241"/>
                </a:solidFill>
                <a:latin typeface="Aptos"/>
              </a:rPr>
              <a:t>• Invitation template
• Mailings tab
• Insert Merge Field
• Preview Results
• Finish &amp; Merge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73152" cy="1828800"/>
          </a:xfrm>
          <a:prstGeom prst="rect">
            <a:avLst/>
          </a:prstGeom>
          <a:solidFill>
            <a:srgbClr val="235382"/>
          </a:solidFill>
          <a:ln>
            <a:solidFill>
              <a:srgbClr val="235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581912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Microsoft Excel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984248"/>
            <a:ext cx="315468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73241"/>
                </a:solidFill>
                <a:latin typeface="Aptos"/>
              </a:rPr>
              <a:t>• Column headings
• One row per student
• Consistent data format
• Unique enrollment numbers
• Save as .xlsx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41732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417320"/>
            <a:ext cx="73152" cy="1828800"/>
          </a:xfrm>
          <a:prstGeom prst="rect">
            <a:avLst/>
          </a:prstGeom>
          <a:solidFill>
            <a:srgbClr val="F29748"/>
          </a:solidFill>
          <a:ln>
            <a:solidFill>
              <a:srgbClr val="F29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581912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Mail Merge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1984248"/>
            <a:ext cx="315468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73241"/>
                </a:solidFill>
                <a:latin typeface="Aptos"/>
              </a:rPr>
              <a:t>• Select Recipients
• Edit Recipient List
• Address/field mapping
• Preview each record
• Print or edit merged letters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86200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Before starting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43400"/>
            <a:ext cx="10241280" cy="1508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73241"/>
                </a:solidFill>
                <a:latin typeface="Aptos"/>
              </a:defRPr>
            </a:pPr>
            <a:r>
              <a:t>•  Keep the Excel file closed while connecting if Word has trouble reading it.</a:t>
            </a:r>
          </a:p>
          <a:p>
            <a:pPr>
              <a:spcAft>
                <a:spcPts val="900"/>
              </a:spcAft>
              <a:defRPr sz="1500">
                <a:solidFill>
                  <a:srgbClr val="273241"/>
                </a:solidFill>
                <a:latin typeface="Aptos"/>
              </a:defRPr>
            </a:pPr>
            <a:r>
              <a:t>•  Use clear headers such as Name, EnrollmentNo and Email.</a:t>
            </a:r>
          </a:p>
          <a:p>
            <a:pPr>
              <a:spcAft>
                <a:spcPts val="900"/>
              </a:spcAft>
              <a:defRPr sz="1500">
                <a:solidFill>
                  <a:srgbClr val="273241"/>
                </a:solidFill>
                <a:latin typeface="Aptos"/>
              </a:defRPr>
            </a:pPr>
            <a:r>
              <a:t>•  Save both files in a known folder so they are easy to find.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33F"/>
                </a:solidFill>
                <a:latin typeface="Aptos"/>
              </a:rPr>
              <a:t>04  |  Step 1 — Prepare the Excel Recipient 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13232" cy="50292"/>
          </a:xfrm>
          <a:prstGeom prst="rect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905256"/>
            <a:ext cx="9966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77585"/>
                </a:solidFill>
                <a:latin typeface="Aptos"/>
              </a:rPr>
              <a:t>Create a clean data source with at least 10 student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77585"/>
                </a:solidFill>
                <a:latin typeface="Aptos"/>
              </a:rPr>
              <a:t>05  / 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08760"/>
          <a:ext cx="681228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00200"/>
                <a:gridCol w="3383280"/>
              </a:tblGrid>
              <a:tr h="5562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Name</a:t>
                      </a:r>
                    </a:p>
                  </a:txBody>
                  <a:tcPr marL="91440" marR="73152"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EnrollmentNo</a:t>
                      </a:r>
                    </a:p>
                  </a:txBody>
                  <a:tcPr marL="91440" marR="73152"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Email</a:t>
                      </a:r>
                    </a:p>
                  </a:txBody>
                  <a:tcPr marL="91440" marR="73152">
                    <a:solidFill>
                      <a:srgbClr val="12233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Aarav Patel</a:t>
                      </a:r>
                    </a:p>
                  </a:txBody>
                  <a:tcPr marL="91440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TCIE2401</a:t>
                      </a:r>
                    </a:p>
                  </a:txBody>
                  <a:tcPr marL="91440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aarav.patel@example.com</a:t>
                      </a:r>
                    </a:p>
                  </a:txBody>
                  <a:tcPr marL="91440" marR="73152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Diya Shah</a:t>
                      </a:r>
                    </a:p>
                  </a:txBody>
                  <a:tcPr marL="91440" marR="7315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TCIE2402</a:t>
                      </a:r>
                    </a:p>
                  </a:txBody>
                  <a:tcPr marL="91440" marR="7315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diya.shah@example.com</a:t>
                      </a:r>
                    </a:p>
                  </a:txBody>
                  <a:tcPr marL="91440" marR="73152">
                    <a:solidFill>
                      <a:srgbClr val="F4F7FB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Rohan Mehta</a:t>
                      </a:r>
                    </a:p>
                  </a:txBody>
                  <a:tcPr marL="91440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TCIE2403</a:t>
                      </a:r>
                    </a:p>
                  </a:txBody>
                  <a:tcPr marL="91440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rohan.mehta@example.com</a:t>
                      </a:r>
                    </a:p>
                  </a:txBody>
                  <a:tcPr marL="91440" marR="73152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Anaya Joshi</a:t>
                      </a:r>
                    </a:p>
                  </a:txBody>
                  <a:tcPr marL="91440" marR="7315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TCIE2404</a:t>
                      </a:r>
                    </a:p>
                  </a:txBody>
                  <a:tcPr marL="91440" marR="7315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anaya.joshi@example.com</a:t>
                      </a:r>
                    </a:p>
                  </a:txBody>
                  <a:tcPr marL="91440" marR="73152">
                    <a:solidFill>
                      <a:srgbClr val="F4F7FB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Kabir Desai</a:t>
                      </a:r>
                    </a:p>
                  </a:txBody>
                  <a:tcPr marL="91440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TCIE2405</a:t>
                      </a:r>
                    </a:p>
                  </a:txBody>
                  <a:tcPr marL="91440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73241"/>
                          </a:solidFill>
                          <a:latin typeface="Aptos"/>
                        </a:defRPr>
                      </a:pPr>
                      <a:r>
                        <a:t>kabir.desai@example.com</a:t>
                      </a:r>
                    </a:p>
                  </a:txBody>
                  <a:tcPr marL="91440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909560" y="1508760"/>
            <a:ext cx="35204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09560" y="1508760"/>
            <a:ext cx="73152" cy="1371600"/>
          </a:xfrm>
          <a:prstGeom prst="rect">
            <a:avLst/>
          </a:prstGeom>
          <a:solidFill>
            <a:srgbClr val="F29748"/>
          </a:solidFill>
          <a:ln>
            <a:solidFill>
              <a:srgbClr val="F29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8" y="1673351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Important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0728" y="2075688"/>
            <a:ext cx="31546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73241"/>
                </a:solidFill>
                <a:latin typeface="Aptos"/>
              </a:rPr>
              <a:t>The sample names and example.com emails are illustrative. Replace them with your approved practical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063240"/>
            <a:ext cx="35204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09560" y="3063240"/>
            <a:ext cx="73152" cy="1371600"/>
          </a:xfrm>
          <a:prstGeom prst="rect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8" y="3227832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Save the workbook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8" y="3630168"/>
            <a:ext cx="31546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73241"/>
                </a:solidFill>
                <a:latin typeface="Aptos"/>
              </a:rPr>
              <a:t>Save as Student_List.xlsx. Keep the first row for column headings.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35382"/>
                </a:solidFill>
                <a:latin typeface="Aptos"/>
              </a:rPr>
              <a:t>Add 5 more records to reach 10 students. Each student must occupy one row.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33F"/>
                </a:solidFill>
                <a:latin typeface="Aptos"/>
              </a:rPr>
              <a:t>05  |  Step 2 — Draft the Invitation in Word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13232" cy="50292"/>
          </a:xfrm>
          <a:prstGeom prst="rect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905256"/>
            <a:ext cx="9966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77585"/>
                </a:solidFill>
                <a:latin typeface="Aptos"/>
              </a:rPr>
              <a:t>Create the reusable main document before inserting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77585"/>
                </a:solidFill>
                <a:latin typeface="Aptos"/>
              </a:rPr>
              <a:t>06  /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66751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27632"/>
            <a:ext cx="5943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2233F"/>
                </a:solidFill>
                <a:latin typeface="Aptos"/>
              </a:rPr>
              <a:t>COLLEGE SEMINAR INVITATION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194560"/>
            <a:ext cx="5394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77585"/>
                </a:solidFill>
                <a:latin typeface="Aptos"/>
              </a:rPr>
              <a:t>Date: [Insert date]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651760"/>
            <a:ext cx="53949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73241"/>
                </a:solidFill>
                <a:latin typeface="Aptos"/>
              </a:rPr>
              <a:t>Dear «Name»,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90672"/>
            <a:ext cx="54864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73241"/>
                </a:solidFill>
                <a:latin typeface="Aptos"/>
              </a:rPr>
              <a:t>You are cordially invited to attend our college seminar. The session will provide an opportunity to learn, exchange ideas and interact with fellow students.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160520"/>
            <a:ext cx="5394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35382"/>
                </a:solidFill>
                <a:latin typeface="Aptos"/>
              </a:rPr>
              <a:t>Enrollment No.: «EnrollmentNo»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553712"/>
            <a:ext cx="5486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35382"/>
                </a:solidFill>
                <a:latin typeface="Aptos"/>
              </a:rPr>
              <a:t>Please confirm your participation by email: «Email»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074920"/>
            <a:ext cx="53035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73241"/>
                </a:solidFill>
                <a:latin typeface="Aptos"/>
              </a:rPr>
              <a:t>Regards,
Seminar Organizing Committee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46304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18120" y="1463040"/>
            <a:ext cx="73152" cy="1325880"/>
          </a:xfrm>
          <a:prstGeom prst="rect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9288" y="1627632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Suggested details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2029968"/>
            <a:ext cx="31089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73241"/>
                </a:solidFill>
                <a:latin typeface="Aptos"/>
              </a:rPr>
              <a:t>Seminar title, date, time, venue and organizer.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29718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2971800"/>
            <a:ext cx="73152" cy="1325880"/>
          </a:xfrm>
          <a:prstGeom prst="rect">
            <a:avLst/>
          </a:prstGeom>
          <a:solidFill>
            <a:srgbClr val="235382"/>
          </a:solidFill>
          <a:ln>
            <a:solidFill>
              <a:srgbClr val="235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9288" y="3136392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Use placeholders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9288" y="3538728"/>
            <a:ext cx="31089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73241"/>
                </a:solidFill>
                <a:latin typeface="Aptos"/>
              </a:rPr>
              <a:t>Type the basic letter, then replace personal details with Word merge fields.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4709160"/>
            <a:ext cx="315468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29748"/>
                </a:solidFill>
                <a:latin typeface="Aptos"/>
              </a:rPr>
              <a:t>Note: «Name», «EnrollmentNo» and «Email» become real merge fields in Word.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33F"/>
                </a:solidFill>
                <a:latin typeface="Aptos"/>
              </a:rPr>
              <a:t>06  |  Step 3 — Connect &amp; Insert Merge Fields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13232" cy="50292"/>
          </a:xfrm>
          <a:prstGeom prst="rect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905256"/>
            <a:ext cx="9966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77585"/>
                </a:solidFill>
                <a:latin typeface="Aptos"/>
              </a:rPr>
              <a:t>Use the Mailings tab in Microsoft 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77585"/>
                </a:solidFill>
                <a:latin typeface="Aptos"/>
              </a:rPr>
              <a:t>07  /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78408" y="1645920"/>
            <a:ext cx="530352" cy="530352"/>
          </a:xfrm>
          <a:prstGeom prst="ellipse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773936"/>
            <a:ext cx="53035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618488"/>
            <a:ext cx="3886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Open Mailings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39112"/>
            <a:ext cx="38862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73241"/>
                </a:solidFill>
                <a:latin typeface="Aptos"/>
              </a:rPr>
              <a:t>Choose Start Mail Merge → Letters.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17320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01968" y="1645920"/>
            <a:ext cx="530352" cy="530352"/>
          </a:xfrm>
          <a:prstGeom prst="ellipse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1773936"/>
            <a:ext cx="53035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618488"/>
            <a:ext cx="3886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Select Recipients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039112"/>
            <a:ext cx="38862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73241"/>
                </a:solidFill>
                <a:latin typeface="Aptos"/>
              </a:rPr>
              <a:t>Use an Existing List and choose Student_List.xlsx.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383280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8408" y="3611880"/>
            <a:ext cx="530352" cy="530352"/>
          </a:xfrm>
          <a:prstGeom prst="ellipse">
            <a:avLst/>
          </a:prstGeom>
          <a:solidFill>
            <a:srgbClr val="235382"/>
          </a:solidFill>
          <a:ln>
            <a:solidFill>
              <a:srgbClr val="235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3739896"/>
            <a:ext cx="53035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584448"/>
            <a:ext cx="3886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Choose worksheet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005072"/>
            <a:ext cx="38862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73241"/>
                </a:solidFill>
                <a:latin typeface="Aptos"/>
              </a:rPr>
              <a:t>Select the sheet containing the student table; confirm headers.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383280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01968" y="3611880"/>
            <a:ext cx="530352" cy="530352"/>
          </a:xfrm>
          <a:prstGeom prst="ellipse">
            <a:avLst/>
          </a:prstGeom>
          <a:solidFill>
            <a:srgbClr val="235382"/>
          </a:solidFill>
          <a:ln>
            <a:solidFill>
              <a:srgbClr val="235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3739896"/>
            <a:ext cx="53035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584448"/>
            <a:ext cx="3886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Insert fields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005072"/>
            <a:ext cx="38862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73241"/>
                </a:solidFill>
                <a:latin typeface="Aptos"/>
              </a:rPr>
              <a:t>Place cursor in the letter, then Insert Merge Field → Name / EnrollmentNo / Email.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15000"/>
            <a:ext cx="103327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9748"/>
                </a:solidFill>
                <a:latin typeface="Aptos"/>
              </a:rPr>
              <a:t>Tip: Do not manually type the chevrons. Insert fields using Word’s Insert Merge Field command.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33F"/>
                </a:solidFill>
                <a:latin typeface="Aptos"/>
              </a:rPr>
              <a:t>07  |  Practical Demonstration Screenshots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13232" cy="50292"/>
          </a:xfrm>
          <a:prstGeom prst="rect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905256"/>
            <a:ext cx="9966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77585"/>
                </a:solidFill>
                <a:latin typeface="Aptos"/>
              </a:rPr>
              <a:t>Replace each placeholder with a screenshot from your own computer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77585"/>
                </a:solidFill>
                <a:latin typeface="Aptos"/>
              </a:rPr>
              <a:t>08  /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5257800" cy="2057400"/>
          </a:xfrm>
          <a:prstGeom prst="roundRect">
            <a:avLst/>
          </a:prstGeom>
          <a:solidFill>
            <a:srgbClr val="FAFCFE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4088" y="1389888"/>
            <a:ext cx="5221224" cy="292608"/>
          </a:xfrm>
          <a:prstGeom prst="rect">
            <a:avLst/>
          </a:prstGeom>
          <a:solidFill>
            <a:srgbClr val="12233F"/>
          </a:solidFill>
          <a:ln>
            <a:solidFill>
              <a:srgbClr val="122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3816" y="1481328"/>
            <a:ext cx="73152" cy="73152"/>
          </a:xfrm>
          <a:prstGeom prst="ellipse">
            <a:avLst/>
          </a:prstGeom>
          <a:solidFill>
            <a:srgbClr val="F46969"/>
          </a:solidFill>
          <a:ln>
            <a:solidFill>
              <a:srgbClr val="F4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" y="1481328"/>
            <a:ext cx="73152" cy="73152"/>
          </a:xfrm>
          <a:prstGeom prst="ellipse">
            <a:avLst/>
          </a:prstGeom>
          <a:solidFill>
            <a:srgbClr val="F29748"/>
          </a:solidFill>
          <a:ln>
            <a:solidFill>
              <a:srgbClr val="F29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" y="1481328"/>
            <a:ext cx="73152" cy="73152"/>
          </a:xfrm>
          <a:prstGeom prst="ellipse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47088"/>
            <a:ext cx="48920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35382"/>
                </a:solidFill>
                <a:latin typeface="Aptos"/>
              </a:rPr>
              <a:t>SCREENSHOT 1 — EXCEL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31720"/>
            <a:ext cx="480060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77585"/>
                </a:solidFill>
                <a:latin typeface="Aptos"/>
              </a:rPr>
              <a:t>Show the column headings and all 10 student rows in Excel.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18104"/>
            <a:ext cx="4983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29748"/>
                </a:solidFill>
                <a:latin typeface="Aptos"/>
              </a:rPr>
              <a:t>REPLACE WITH YOUR OWN SCREENSHOT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257800" cy="2057400"/>
          </a:xfrm>
          <a:prstGeom prst="roundRect">
            <a:avLst/>
          </a:prstGeom>
          <a:solidFill>
            <a:srgbClr val="FAFCFE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7" y="1389888"/>
            <a:ext cx="5221224" cy="292608"/>
          </a:xfrm>
          <a:prstGeom prst="rect">
            <a:avLst/>
          </a:prstGeom>
          <a:solidFill>
            <a:srgbClr val="12233F"/>
          </a:solidFill>
          <a:ln>
            <a:solidFill>
              <a:srgbClr val="122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45936" y="1481328"/>
            <a:ext cx="73152" cy="73152"/>
          </a:xfrm>
          <a:prstGeom prst="ellipse">
            <a:avLst/>
          </a:prstGeom>
          <a:solidFill>
            <a:srgbClr val="F46969"/>
          </a:solidFill>
          <a:ln>
            <a:solidFill>
              <a:srgbClr val="F4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10527" y="1481328"/>
            <a:ext cx="73152" cy="73152"/>
          </a:xfrm>
          <a:prstGeom prst="ellipse">
            <a:avLst/>
          </a:prstGeom>
          <a:solidFill>
            <a:srgbClr val="F29748"/>
          </a:solidFill>
          <a:ln>
            <a:solidFill>
              <a:srgbClr val="F29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75120" y="1481328"/>
            <a:ext cx="73152" cy="73152"/>
          </a:xfrm>
          <a:prstGeom prst="ellipse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847088"/>
            <a:ext cx="48920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35382"/>
                </a:solidFill>
                <a:latin typeface="Aptos"/>
              </a:rPr>
              <a:t>SCREENSHOT 2 — MAILINGS TAB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331720"/>
            <a:ext cx="480060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77585"/>
                </a:solidFill>
                <a:latin typeface="Aptos"/>
              </a:rPr>
              <a:t>Show Select Recipients and Insert Merge Field in Word.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118104"/>
            <a:ext cx="4983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29748"/>
                </a:solidFill>
                <a:latin typeface="Aptos"/>
              </a:rPr>
              <a:t>REPLACE WITH YOUR OWN SCREENSHOT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03320"/>
            <a:ext cx="5257800" cy="2057400"/>
          </a:xfrm>
          <a:prstGeom prst="roundRect">
            <a:avLst/>
          </a:prstGeom>
          <a:solidFill>
            <a:srgbClr val="FAFCFE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4088" y="3721607"/>
            <a:ext cx="5221224" cy="292608"/>
          </a:xfrm>
          <a:prstGeom prst="rect">
            <a:avLst/>
          </a:prstGeom>
          <a:solidFill>
            <a:srgbClr val="12233F"/>
          </a:solidFill>
          <a:ln>
            <a:solidFill>
              <a:srgbClr val="122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3816" y="3813048"/>
            <a:ext cx="73152" cy="73152"/>
          </a:xfrm>
          <a:prstGeom prst="ellipse">
            <a:avLst/>
          </a:prstGeom>
          <a:solidFill>
            <a:srgbClr val="F46969"/>
          </a:solidFill>
          <a:ln>
            <a:solidFill>
              <a:srgbClr val="F4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8408" y="3813048"/>
            <a:ext cx="73152" cy="73152"/>
          </a:xfrm>
          <a:prstGeom prst="ellipse">
            <a:avLst/>
          </a:prstGeom>
          <a:solidFill>
            <a:srgbClr val="F29748"/>
          </a:solidFill>
          <a:ln>
            <a:solidFill>
              <a:srgbClr val="F29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3000" y="3813048"/>
            <a:ext cx="73152" cy="73152"/>
          </a:xfrm>
          <a:prstGeom prst="ellipse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78808"/>
            <a:ext cx="48920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35382"/>
                </a:solidFill>
                <a:latin typeface="Aptos"/>
              </a:rPr>
              <a:t>SCREENSHOT 3 — PREVIEW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663440"/>
            <a:ext cx="480060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77585"/>
                </a:solidFill>
                <a:latin typeface="Aptos"/>
              </a:rPr>
              <a:t>Show a preview with one student’s details filled in.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449824"/>
            <a:ext cx="4983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29748"/>
                </a:solidFill>
                <a:latin typeface="Aptos"/>
              </a:rPr>
              <a:t>REPLACE WITH YOUR OWN SCREENSHOT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703320"/>
            <a:ext cx="5257800" cy="2057400"/>
          </a:xfrm>
          <a:prstGeom prst="roundRect">
            <a:avLst/>
          </a:prstGeom>
          <a:solidFill>
            <a:srgbClr val="FAFCFE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6207" y="3721607"/>
            <a:ext cx="5221224" cy="292608"/>
          </a:xfrm>
          <a:prstGeom prst="rect">
            <a:avLst/>
          </a:prstGeom>
          <a:solidFill>
            <a:srgbClr val="12233F"/>
          </a:solidFill>
          <a:ln>
            <a:solidFill>
              <a:srgbClr val="122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45936" y="3813048"/>
            <a:ext cx="73152" cy="73152"/>
          </a:xfrm>
          <a:prstGeom prst="ellipse">
            <a:avLst/>
          </a:prstGeom>
          <a:solidFill>
            <a:srgbClr val="F46969"/>
          </a:solidFill>
          <a:ln>
            <a:solidFill>
              <a:srgbClr val="F4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10527" y="3813048"/>
            <a:ext cx="73152" cy="73152"/>
          </a:xfrm>
          <a:prstGeom prst="ellipse">
            <a:avLst/>
          </a:prstGeom>
          <a:solidFill>
            <a:srgbClr val="F29748"/>
          </a:solidFill>
          <a:ln>
            <a:solidFill>
              <a:srgbClr val="F29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675120" y="3813048"/>
            <a:ext cx="73152" cy="73152"/>
          </a:xfrm>
          <a:prstGeom prst="ellipse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178808"/>
            <a:ext cx="48920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35382"/>
                </a:solidFill>
                <a:latin typeface="Aptos"/>
              </a:rPr>
              <a:t>SCREENSHOT 4 — MERGED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4663440"/>
            <a:ext cx="480060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77585"/>
                </a:solidFill>
                <a:latin typeface="Aptos"/>
              </a:rPr>
              <a:t>Show the final personalized invitation or the merged letters document.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449824"/>
            <a:ext cx="4983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29748"/>
                </a:solidFill>
                <a:latin typeface="Aptos"/>
              </a:rPr>
              <a:t>REPLACE WITH YOUR OWN SCREENSHOT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33F"/>
                </a:solidFill>
                <a:latin typeface="Aptos"/>
              </a:rPr>
              <a:t>08  |  Step 4 — Preview &amp; Generate Letters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13232" cy="50292"/>
          </a:xfrm>
          <a:prstGeom prst="rect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905256"/>
            <a:ext cx="9966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77585"/>
                </a:solidFill>
                <a:latin typeface="Aptos"/>
              </a:rPr>
              <a:t>Check every record before finishing the merge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77585"/>
                </a:solidFill>
                <a:latin typeface="Aptos"/>
              </a:rPr>
              <a:t>09  /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73152" cy="1417320"/>
          </a:xfrm>
          <a:prstGeom prst="rect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36192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Preview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38528"/>
            <a:ext cx="3063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73241"/>
                </a:solidFill>
                <a:latin typeface="Aptos"/>
              </a:rPr>
              <a:t>Use Next Record / Previous Record to inspect different students.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73152" cy="1417320"/>
          </a:xfrm>
          <a:prstGeom prst="rect">
            <a:avLst/>
          </a:prstGeom>
          <a:solidFill>
            <a:srgbClr val="235382"/>
          </a:solidFill>
          <a:ln>
            <a:solidFill>
              <a:srgbClr val="235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536192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Check the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38528"/>
            <a:ext cx="3063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73241"/>
                </a:solidFill>
                <a:latin typeface="Aptos"/>
              </a:rPr>
              <a:t>Confirm names, enrollment numbers, email addresses and spacing.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73152" cy="1417320"/>
          </a:xfrm>
          <a:prstGeom prst="rect">
            <a:avLst/>
          </a:prstGeom>
          <a:solidFill>
            <a:srgbClr val="F29748"/>
          </a:solidFill>
          <a:ln>
            <a:solidFill>
              <a:srgbClr val="F29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536192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Finish &amp; Merge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938528"/>
            <a:ext cx="3063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73241"/>
                </a:solidFill>
                <a:latin typeface="Aptos"/>
              </a:rPr>
              <a:t>Choose Edit Individual Documents to create all letters in a new document.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246120"/>
            <a:ext cx="102870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3520440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9B9B"/>
                </a:solidFill>
                <a:latin typeface="Aptos"/>
              </a:rPr>
              <a:t>EXPECTED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977639"/>
            <a:ext cx="9509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12233F"/>
                </a:solidFill>
                <a:latin typeface="Aptos"/>
              </a:rPr>
              <a:t>10 student records  →  10 personalized invitation letters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754880"/>
            <a:ext cx="9326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677585"/>
                </a:solidFill>
                <a:latin typeface="Aptos"/>
              </a:rPr>
              <a:t>Save the merged output as a separate Word document. Recheck page breaks and save your files.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35382"/>
                </a:solidFill>
                <a:latin typeface="Aptos"/>
              </a:rPr>
              <a:t>Expected files: Student_List.xlsx  •  Seminar_Invitation.docx  •  Merged_Invitations.docx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400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Aptos"/>
              </a:rPr>
              <a:t>09  | 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143000"/>
            <a:ext cx="777240" cy="54864"/>
          </a:xfrm>
          <a:prstGeom prst="rect">
            <a:avLst/>
          </a:prstGeom>
          <a:solidFill>
            <a:srgbClr val="149B9B"/>
          </a:solidFill>
          <a:ln>
            <a:solidFill>
              <a:srgbClr val="14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24128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Mail Merge combines a reusable Word letter with structured Excel data to create personalized documents efficiently.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063240"/>
            <a:ext cx="3429000" cy="1417320"/>
          </a:xfrm>
          <a:prstGeom prst="roundRect">
            <a:avLst/>
          </a:prstGeom>
          <a:solidFill>
            <a:srgbClr val="1C3251"/>
          </a:solidFill>
          <a:ln>
            <a:solidFill>
              <a:srgbClr val="3F5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310128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95E5DC"/>
                </a:solidFill>
                <a:latin typeface="Aptos"/>
              </a:rPr>
              <a:t>Time-saving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730752"/>
            <a:ext cx="2880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Avoid typing the same letter repeatedly.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063240"/>
            <a:ext cx="3429000" cy="1417320"/>
          </a:xfrm>
          <a:prstGeom prst="roundRect">
            <a:avLst/>
          </a:prstGeom>
          <a:solidFill>
            <a:srgbClr val="1C3251"/>
          </a:solidFill>
          <a:ln>
            <a:solidFill>
              <a:srgbClr val="3F5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3310128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95E5DC"/>
                </a:solidFill>
                <a:latin typeface="Aptos"/>
              </a:rPr>
              <a:t>Consistent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730752"/>
            <a:ext cx="2880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Keep layout and wording uniform.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3063240"/>
            <a:ext cx="3429000" cy="1417320"/>
          </a:xfrm>
          <a:prstGeom prst="roundRect">
            <a:avLst/>
          </a:prstGeom>
          <a:solidFill>
            <a:srgbClr val="1C3251"/>
          </a:solidFill>
          <a:ln>
            <a:solidFill>
              <a:srgbClr val="3F5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3310128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95E5DC"/>
                </a:solidFill>
                <a:latin typeface="Aptos"/>
              </a:rPr>
              <a:t>Personalized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730752"/>
            <a:ext cx="2880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Each student receives their own details.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74920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6928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B1C3D8"/>
                </a:solidFill>
                <a:latin typeface="Aptos"/>
              </a:rPr>
              <a:t>Questions &amp; Viva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B1C3D8"/>
                </a:solidFill>
                <a:latin typeface="Aptos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 Word – Mail Merge | TCIE-2 Practical Presentation</dc:title>
  <dc:subject>10-slide academic presentation on Mail Merge</dc:subject>
  <dc:creator>Student</dc:creator>
  <cp:keywords>MS Word, Mail Merge, Excel, college seminar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